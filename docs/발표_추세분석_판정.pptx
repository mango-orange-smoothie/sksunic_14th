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스펙 검사로 0건이라는 게 이 프로젝트의 출발점이다. 기존 방법으로 안 보이는 걸 잡는 게 목표이므로, 스펙 위반 경로는 발표에서 다루지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K가 재귀식 안에 있다는 것이 핵심이다. 지속 편차가 K보다 크면 어떤 H로도 막을 수 없고, 작으면 어떤 H로도 안 터진다. 그래서 K가 구속 조건이고 H는 눈금이다.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스트림이 많을수록 어딘가에서 한 번 울릴 확률이 올라가는 다중비교 문제다. K=0.7은 상수가 아니라 이 감시 규모에 딸린 값이라고 말해야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탐지 지연 상한을 7일·10일·14일 어디로 잡아도 (0.70, 4.5)는 통과한다. 격자의 판정 기준을 물어보면 10일이라고 답한다.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방향 필터 실측: CLN_Flow↔Particle 7개 그룹을 빼니 DP03의 10일짜리 경보가 오탐으로 사라졌고 경보행이 9,941에서 9,701로 줄었다.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접근 제거 근거: 첫 조건이 '아직 안 넘음'이라 실제 열화에서는 값이 이미 넘어 있어 걸릴 자리가 없다. 창을 30까지 키워도 세 고장의 탐지일이 안 바뀐다.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세기는 새로 만든 기준이 아니라 점수가 이미 쓰고 있는 값을 그대로 표시로 보낸 것이다. 그래야 배지와 점수가 다른 말을 할 수 없다.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9456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배경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97280" y="219456"/>
            <a:ext cx="164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280160" y="219456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810512" y="219456"/>
            <a:ext cx="164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993392" y="219456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판정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23744" y="219456"/>
            <a:ext cx="164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06624" y="219456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36976" y="219456"/>
            <a:ext cx="164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19856" y="219456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98687" y="21945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spc="160" kern="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01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530352"/>
            <a:ext cx="11057839" cy="0"/>
          </a:xfrm>
          <a:prstGeom prst="line">
            <a:avLst/>
          </a:prstGeom>
          <a:noFill/>
          <a:ln w="9525">
            <a:solidFill>
              <a:srgbClr val="DC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658368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추세분석 — 스펙 안에서 움직이는 것을 잡는다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66928" y="1170432"/>
            <a:ext cx="110578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❖ 스펙을 벗어나면 이미 알람이 간다. 우리가 푸는 건 스펙 안에서 안 보이는 것이다.</a:t>
            </a:r>
            <a:endParaRPr lang="en-US" sz="1300" dirty="0"/>
          </a:p>
        </p:txBody>
      </p:sp>
      <p:pic>
        <p:nvPicPr>
          <p:cNvPr id="15" name="Image 0" descr="/Users/gimsiu/Downloads/suni c 14조/docs/발표_그림_흐름도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9344"/>
            <a:ext cx="5330952" cy="431596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199632" y="1645920"/>
            <a:ext cx="5425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방법으로는 DP02 · DP03가 정상으로 보인다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199632" y="2048256"/>
            <a:ext cx="5425135" cy="658368"/>
          </a:xfrm>
          <a:prstGeom prst="roundRect">
            <a:avLst>
              <a:gd name="adj" fmla="val 8333"/>
            </a:avLst>
          </a:prstGeom>
          <a:solidFill>
            <a:srgbClr val="FBECEA"/>
          </a:solidFill>
          <a:ln/>
        </p:spPr>
      </p:sp>
      <p:sp>
        <p:nvSpPr>
          <p:cNvPr id="18" name="Text 15"/>
          <p:cNvSpPr/>
          <p:nvPr/>
        </p:nvSpPr>
        <p:spPr>
          <a:xfrm>
            <a:off x="6345936" y="2121408"/>
            <a:ext cx="513252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3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스펙 위반 판정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345936" y="2377440"/>
            <a:ext cx="513252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89일 · 4장비    지속 위반 0건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199632" y="2816352"/>
            <a:ext cx="5425135" cy="658368"/>
          </a:xfrm>
          <a:prstGeom prst="roundRect">
            <a:avLst>
              <a:gd name="adj" fmla="val 8333"/>
            </a:avLst>
          </a:prstGeom>
          <a:solidFill>
            <a:srgbClr val="FBECEA"/>
          </a:solidFill>
          <a:ln/>
        </p:spPr>
      </p:sp>
      <p:sp>
        <p:nvSpPr>
          <p:cNvPr id="21" name="Text 18"/>
          <p:cNvSpPr/>
          <p:nvPr/>
        </p:nvSpPr>
        <p:spPr>
          <a:xfrm>
            <a:off x="6345936" y="2889504"/>
            <a:ext cx="513252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3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Cpk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345936" y="3145536"/>
            <a:ext cx="513252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열화 2.62    정상 2.90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199632" y="3584448"/>
            <a:ext cx="5425135" cy="658368"/>
          </a:xfrm>
          <a:prstGeom prst="roundRect">
            <a:avLst>
              <a:gd name="adj" fmla="val 8333"/>
            </a:avLst>
          </a:prstGeom>
          <a:solidFill>
            <a:srgbClr val="FBECEA"/>
          </a:solidFill>
          <a:ln/>
        </p:spPr>
      </p:sp>
      <p:sp>
        <p:nvSpPr>
          <p:cNvPr id="24" name="Text 21"/>
          <p:cNvSpPr/>
          <p:nvPr/>
        </p:nvSpPr>
        <p:spPr>
          <a:xfrm>
            <a:off x="6345936" y="3657600"/>
            <a:ext cx="513252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3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육안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345936" y="3913632"/>
            <a:ext cx="513252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이동 폭    샷 표준편차의 0.57배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199632" y="4443984"/>
            <a:ext cx="54251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확인된 열화 11건 중 9건이 1σ 미만으로 움직인다.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스펙폭 대비로는 1.7 ~ 4.2%다.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66928" y="6053328"/>
            <a:ext cx="11057839" cy="0"/>
          </a:xfrm>
          <a:prstGeom prst="line">
            <a:avLst/>
          </a:prstGeom>
          <a:noFill/>
          <a:ln w="9525">
            <a:solidFill>
              <a:srgbClr val="DCE3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163056"/>
            <a:ext cx="110578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판정은 두 갈래이고 하나라도 걸리면 경보다. 순서가 아니라 병렬이다.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66928" y="6528816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스펙 위반 · 설비 상한 경로가 코드에는 더 있으나 본 발표 범위 밖이다.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9456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배경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97280" y="219456"/>
            <a:ext cx="164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280160" y="219456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810512" y="219456"/>
            <a:ext cx="164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993392" y="219456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판정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23744" y="219456"/>
            <a:ext cx="164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06624" y="219456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36976" y="219456"/>
            <a:ext cx="164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19856" y="219456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98687" y="21945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spc="160" kern="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01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530352"/>
            <a:ext cx="11057839" cy="0"/>
          </a:xfrm>
          <a:prstGeom prst="line">
            <a:avLst/>
          </a:prstGeom>
          <a:noFill/>
          <a:ln w="9525">
            <a:solidFill>
              <a:srgbClr val="DC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658368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CUSUM — 작은 편차를 누적해서 본다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66928" y="1170432"/>
            <a:ext cx="110578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❖ Laser_Power는 스펙폭의 4.2%만 움직였다. 어떤 고정 선을 그어도 안 걸린다.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1664208"/>
            <a:ext cx="5577840" cy="1700784"/>
          </a:xfrm>
          <a:prstGeom prst="roundRect">
            <a:avLst>
              <a:gd name="adj" fmla="val 4301"/>
            </a:avLst>
          </a:prstGeom>
          <a:solidFill>
            <a:srgbClr val="F2F6F9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179222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판정식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86384" y="2084832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F3B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C⁺ = max(0,  C⁺ + z − K)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F3B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C⁻ = min(0,  C⁻ + z + K)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F3B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경보  ⟺  C⁺ &gt; H   또는   C⁻ &lt; −H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86384" y="3054096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0.7σ      H = 4.5σ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46520" y="1664208"/>
            <a:ext cx="5178247" cy="1700784"/>
          </a:xfrm>
          <a:prstGeom prst="roundRect">
            <a:avLst>
              <a:gd name="adj" fmla="val 4301"/>
            </a:avLst>
          </a:prstGeom>
          <a:solidFill>
            <a:srgbClr val="E7F4EE"/>
          </a:solidFill>
          <a:ln/>
        </p:spPr>
      </p:sp>
      <p:sp>
        <p:nvSpPr>
          <p:cNvPr id="20" name="Text 18"/>
          <p:cNvSpPr/>
          <p:nvPr/>
        </p:nvSpPr>
        <p:spPr>
          <a:xfrm>
            <a:off x="6665976" y="179222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DP04  CLN_Flow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65976" y="213969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하강 시작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778240" y="213969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02-17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665976" y="24688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CUSUM 경보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778240" y="24688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02-19   (+2일)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665976" y="279806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관리하한 3σ 돌파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778240" y="279806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03-01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665976" y="3072384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관리도보다 10일 빠르다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6928" y="3639312"/>
            <a:ext cx="11057839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3970">
            <a:solidFill>
              <a:srgbClr val="1565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" y="3767328"/>
            <a:ext cx="1050919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K는 식 안에 있고, H는 식 밖에 있다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41248" y="4133088"/>
            <a:ext cx="1050919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K가 매 샷 얼마를 버릴지 정해 누적의 모양을 만들고, H는 다 쌓인 뒤 수평선 하나를 그을 뿐이다.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6928" y="4901184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K보다 작은 편차는 계속 버려 0으로 리셋된다 — 한 번 튄 값에는 반응하지 않는다.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 작은 편차가 56일간 한 방향으로 쌓이면 CUSUM은 반드시 터진다.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66928" y="6053328"/>
            <a:ext cx="11057839" cy="0"/>
          </a:xfrm>
          <a:prstGeom prst="line">
            <a:avLst/>
          </a:prstGeom>
          <a:noFill/>
          <a:ln w="9525">
            <a:solidFill>
              <a:srgbClr val="DCE3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6163056"/>
            <a:ext cx="110578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관리도는 '지금 이 샷이 선을 넘었나', CUSUM은 '지금까지 한 방향으로 얼마나 쌓였나'를 본다.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9456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배경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97280" y="219456"/>
            <a:ext cx="164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280160" y="219456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810512" y="219456"/>
            <a:ext cx="164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993392" y="219456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판정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23744" y="219456"/>
            <a:ext cx="164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06624" y="219456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36976" y="219456"/>
            <a:ext cx="164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19856" y="219456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98687" y="21945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spc="160" kern="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02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530352"/>
            <a:ext cx="11057839" cy="0"/>
          </a:xfrm>
          <a:prstGeom prst="line">
            <a:avLst/>
          </a:prstGeom>
          <a:noFill/>
          <a:ln w="9525">
            <a:solidFill>
              <a:srgbClr val="DC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658368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0.7 — 정답 있는 장비로 채점해서 골랐다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66928" y="1170432"/>
            <a:ext cx="110578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❖ 교과서는 목표 ARL로 h를 푼다. 우리는 그럴 수 없었다.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1645920"/>
            <a:ext cx="5577840" cy="1225296"/>
          </a:xfrm>
          <a:prstGeom prst="roundRect">
            <a:avLst>
              <a:gd name="adj" fmla="val 5970"/>
            </a:avLst>
          </a:prstGeom>
          <a:solidFill>
            <a:srgbClr val="FBECEA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1755648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3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교과서 방법이 안 되는 이유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86384" y="2048256"/>
            <a:ext cx="5120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ARL은 관리도 한 개의 수인데 장비당 스트림이 1,836개다.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K0.5 / H4.0의 ARL₀ 169샷을 그대로 쓰면 정상 장비 1대 · 89일에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 오경보가 5,033건이다.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46520" y="1645920"/>
            <a:ext cx="5178247" cy="1225296"/>
          </a:xfrm>
          <a:prstGeom prst="roundRect">
            <a:avLst>
              <a:gd name="adj" fmla="val 5970"/>
            </a:avLst>
          </a:prstGeom>
          <a:solidFill>
            <a:srgbClr val="E7F4EE"/>
          </a:solidFill>
          <a:ln/>
        </p:spPr>
      </p:sp>
      <p:sp>
        <p:nvSpPr>
          <p:cNvPr id="19" name="Text 17"/>
          <p:cNvSpPr/>
          <p:nvPr/>
        </p:nvSpPr>
        <p:spPr>
          <a:xfrm>
            <a:off x="6665976" y="175564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대신 쓴 것 — 정답지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65976" y="2048256"/>
            <a:ext cx="4937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멘토가 주입 시나리오를 확정해줬다. DP01만 시나리오가 없다.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그래서 DP01에 뜨는 지속경보는 전부 오탐이고,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이걸 채점표로 쓸 수 있다.</a:t>
            </a:r>
            <a:endParaRPr lang="en-US" sz="1100" dirty="0"/>
          </a:p>
        </p:txBody>
      </p:sp>
      <p:pic>
        <p:nvPicPr>
          <p:cNvPr id="21" name="Image 0" descr="/Users/gimsiu/Downloads/suni c 14조/docs/발표_표_K스윕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017520"/>
            <a:ext cx="4700016" cy="279806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532120" y="3054096"/>
            <a:ext cx="609264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경계는 감시 규모에 딸린 값이다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532120" y="3328416"/>
            <a:ext cx="609264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DP01 오탐이 0이 되는 K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605272" y="3602736"/>
            <a:ext cx="1078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 1종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720840" y="360273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306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635240" y="3602736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0.40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605272" y="3913632"/>
            <a:ext cx="1078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 2종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720840" y="391363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612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7635240" y="391363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0.45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605272" y="4224528"/>
            <a:ext cx="1078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 3종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720840" y="422452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918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7635240" y="422452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0.50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5605272" y="4535424"/>
            <a:ext cx="1078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 4종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720840" y="453542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1,224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7635240" y="4535424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0.55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5532120" y="4818888"/>
            <a:ext cx="6092647" cy="292608"/>
          </a:xfrm>
          <a:prstGeom prst="roundRect">
            <a:avLst>
              <a:gd name="adj" fmla="val 12500"/>
            </a:avLst>
          </a:prstGeom>
          <a:solidFill>
            <a:srgbClr val="E7F4EE"/>
          </a:solidFill>
          <a:ln/>
        </p:spPr>
      </p:sp>
      <p:sp>
        <p:nvSpPr>
          <p:cNvPr id="37" name="Text 34"/>
          <p:cNvSpPr/>
          <p:nvPr/>
        </p:nvSpPr>
        <p:spPr>
          <a:xfrm>
            <a:off x="5605272" y="4846320"/>
            <a:ext cx="1078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 6종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6720840" y="484632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1,836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7635240" y="4846320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56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5532120" y="5230368"/>
            <a:ext cx="609264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스트림 6배마다 하한이 0.20 올라간다.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감시 범위를 넓히면 다시 잰다.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566928" y="6053328"/>
            <a:ext cx="11057839" cy="0"/>
          </a:xfrm>
          <a:prstGeom prst="line">
            <a:avLst/>
          </a:prstGeom>
          <a:noFill/>
          <a:ln w="9525">
            <a:solidFill>
              <a:srgbClr val="DCE3E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66928" y="6163056"/>
            <a:ext cx="110578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하한은 '고장 전 오탐'이, 상한은 '탐지 지연'이 정한다. 한 점이 아니라 구간이다.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9456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배경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97280" y="219456"/>
            <a:ext cx="164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280160" y="219456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810512" y="219456"/>
            <a:ext cx="164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993392" y="219456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판정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23744" y="219456"/>
            <a:ext cx="164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06624" y="219456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36976" y="219456"/>
            <a:ext cx="164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19856" y="219456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98687" y="21945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spc="160" kern="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03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530352"/>
            <a:ext cx="11057839" cy="0"/>
          </a:xfrm>
          <a:prstGeom prst="line">
            <a:avLst/>
          </a:prstGeom>
          <a:noFill/>
          <a:ln w="9525">
            <a:solidFill>
              <a:srgbClr val="DC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658368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= 4.5 — 그리고 과적합이 아닌 이유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66928" y="1170432"/>
            <a:ext cx="110578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❖ 축을 하나씩만 흔들면 서로를 근거로 삼은 셈이라 42칸을 전부 다시 실행했다.</a:t>
            </a:r>
            <a:endParaRPr lang="en-US" sz="1300" dirty="0"/>
          </a:p>
        </p:txBody>
      </p:sp>
      <p:pic>
        <p:nvPicPr>
          <p:cNvPr id="15" name="Image 0" descr="/Users/gimsiu/Downloads/suni c 14조/docs/발표_표_KH격자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9344"/>
            <a:ext cx="5202936" cy="422452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035040" y="1645920"/>
            <a:ext cx="55897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세 가지 — 성격이 다르다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035040" y="2011680"/>
            <a:ext cx="5589727" cy="621792"/>
          </a:xfrm>
          <a:prstGeom prst="roundRect">
            <a:avLst>
              <a:gd name="adj" fmla="val 8824"/>
            </a:avLst>
          </a:prstGeom>
          <a:solidFill>
            <a:srgbClr val="FBECEA"/>
          </a:solidFill>
          <a:ln/>
        </p:spPr>
      </p:sp>
      <p:sp>
        <p:nvSpPr>
          <p:cNvPr id="18" name="Text 15"/>
          <p:cNvSpPr/>
          <p:nvPr/>
        </p:nvSpPr>
        <p:spPr>
          <a:xfrm>
            <a:off x="6181344" y="2066544"/>
            <a:ext cx="52971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교과서값 K0.5 / H4.0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181344" y="2304288"/>
            <a:ext cx="529711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23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DP01 32 vs DP02 32 — 안 갈림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035040" y="2743200"/>
            <a:ext cx="5589727" cy="621792"/>
          </a:xfrm>
          <a:prstGeom prst="roundRect">
            <a:avLst>
              <a:gd name="adj" fmla="val 8824"/>
            </a:avLst>
          </a:prstGeom>
          <a:solidFill>
            <a:srgbClr val="F2F6F9"/>
          </a:solidFill>
          <a:ln/>
        </p:spPr>
      </p:sp>
      <p:sp>
        <p:nvSpPr>
          <p:cNvPr id="21" name="Text 18"/>
          <p:cNvSpPr/>
          <p:nvPr/>
        </p:nvSpPr>
        <p:spPr>
          <a:xfrm>
            <a:off x="6181344" y="2798064"/>
            <a:ext cx="52971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안정성 — 컬럼 홀/짝 반으로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181344" y="3035808"/>
            <a:ext cx="529711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경계 K  0.60 / 0.55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035040" y="3474720"/>
            <a:ext cx="5589727" cy="621792"/>
          </a:xfrm>
          <a:prstGeom prst="roundRect">
            <a:avLst>
              <a:gd name="adj" fmla="val 8824"/>
            </a:avLst>
          </a:prstGeom>
          <a:solidFill>
            <a:srgbClr val="F2F6F9"/>
          </a:solidFill>
          <a:ln/>
        </p:spPr>
      </p:sp>
      <p:sp>
        <p:nvSpPr>
          <p:cNvPr id="24" name="Text 21"/>
          <p:cNvSpPr/>
          <p:nvPr/>
        </p:nvSpPr>
        <p:spPr>
          <a:xfrm>
            <a:off x="6181344" y="3529584"/>
            <a:ext cx="52971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안정성 — 기간 전/후 반으로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181344" y="3767328"/>
            <a:ext cx="529711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경계 K  0.60 / 0.55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035040" y="4206240"/>
            <a:ext cx="5589727" cy="621792"/>
          </a:xfrm>
          <a:prstGeom prst="roundRect">
            <a:avLst>
              <a:gd name="adj" fmla="val 8824"/>
            </a:avLst>
          </a:prstGeom>
          <a:solidFill>
            <a:srgbClr val="E7F4EE"/>
          </a:solidFill>
          <a:ln/>
        </p:spPr>
      </p:sp>
      <p:sp>
        <p:nvSpPr>
          <p:cNvPr id="27" name="Text 24"/>
          <p:cNvSpPr/>
          <p:nvPr/>
        </p:nvSpPr>
        <p:spPr>
          <a:xfrm>
            <a:off x="6181344" y="4261104"/>
            <a:ext cx="52971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교차검증 — 장비 하나씩 빼고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181344" y="4498848"/>
            <a:ext cx="529711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 폴드 전부 0.7 생존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6035040" y="4974336"/>
            <a:ext cx="5589727" cy="859536"/>
          </a:xfrm>
          <a:prstGeom prst="roundRect">
            <a:avLst>
              <a:gd name="adj" fmla="val 6383"/>
            </a:avLst>
          </a:prstGeom>
          <a:solidFill>
            <a:srgbClr val="FBF1E0"/>
          </a:solidFill>
          <a:ln/>
        </p:spPr>
      </p:sp>
      <p:sp>
        <p:nvSpPr>
          <p:cNvPr id="30" name="Text 27"/>
          <p:cNvSpPr/>
          <p:nvPr/>
        </p:nvSpPr>
        <p:spPr>
          <a:xfrm>
            <a:off x="6181344" y="5047488"/>
            <a:ext cx="52971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6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못 한 것 — 먼저 말한다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181344" y="5303520"/>
            <a:ext cx="529711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8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 장비가 DP01 하나뿐이라 오탐 기준은 홀드아웃이 불가능하다.</a:t>
            </a:r>
            <a:endParaRPr lang="en-US" sz="9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8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교차검증된 건 탐지 쪽이고, 오탐 쪽은 안정성 검사까지다.</a:t>
            </a:r>
            <a:endParaRPr lang="en-US" sz="980" dirty="0"/>
          </a:p>
        </p:txBody>
      </p:sp>
      <p:sp>
        <p:nvSpPr>
          <p:cNvPr id="32" name="Shape 29"/>
          <p:cNvSpPr/>
          <p:nvPr/>
        </p:nvSpPr>
        <p:spPr>
          <a:xfrm>
            <a:off x="566928" y="6053328"/>
            <a:ext cx="11057839" cy="0"/>
          </a:xfrm>
          <a:prstGeom prst="line">
            <a:avLst/>
          </a:prstGeom>
          <a:noFill/>
          <a:ln w="9525">
            <a:solidFill>
              <a:srgbClr val="DCE3E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6928" y="6163056"/>
            <a:ext cx="110578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K는 손잡이가 하나고 단조라 맞출 자유도가 애초에 작다. (0.70, 4.5)는 이웃이 모두 통과다.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9456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배경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97280" y="219456"/>
            <a:ext cx="164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280160" y="219456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810512" y="219456"/>
            <a:ext cx="164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993392" y="219456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판정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23744" y="219456"/>
            <a:ext cx="164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06624" y="219456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36976" y="219456"/>
            <a:ext cx="164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19856" y="219456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98687" y="21945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spc="160" kern="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04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530352"/>
            <a:ext cx="11057839" cy="0"/>
          </a:xfrm>
          <a:prstGeom prst="line">
            <a:avLst/>
          </a:prstGeom>
          <a:noFill/>
          <a:ln w="9525">
            <a:solidFill>
              <a:srgbClr val="DC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658368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CUSUM이 못 보는 것 — 불량으로 학습한 경계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66928" y="1170432"/>
            <a:ext cx="110578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❖ CUSUM은 '평소와 달라졌다'만 말한다. 달라졌다고 불량이 나는 건 아니다.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1627632"/>
            <a:ext cx="11057839" cy="566928"/>
          </a:xfrm>
          <a:prstGeom prst="roundRect">
            <a:avLst>
              <a:gd name="adj" fmla="val 9677"/>
            </a:avLst>
          </a:prstGeom>
          <a:solidFill>
            <a:srgbClr val="FBECEA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1737360"/>
            <a:ext cx="10618927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3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CUSUM이 재는 것    </a:t>
            </a:r>
            <a:pPr indent="0" marL="0">
              <a:buNone/>
            </a:pPr>
            <a:r>
              <a:rPr lang="en-US" sz="1200" dirty="0">
                <a:solidFill>
                  <a:srgbClr val="1F3B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(현재값 − 정상값) / σ</a:t>
            </a:r>
            <a:pPr indent="0" marL="0">
              <a:buNone/>
            </a:pPr>
            <a:r>
              <a:rPr lang="en-US" sz="110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통계적 거리일 뿐, 불량과 연결이 없다</a:t>
            </a:r>
            <a:endParaRPr lang="en-US" sz="1100" dirty="0"/>
          </a:p>
        </p:txBody>
      </p:sp>
      <p:pic>
        <p:nvPicPr>
          <p:cNvPr id="17" name="Image 0" descr="/Users/gimsiu/Downloads/suni c 14조/docs/발표_그림_경계값학습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340864"/>
            <a:ext cx="5806440" cy="3136392"/>
          </a:xfrm>
          <a:prstGeom prst="rect">
            <a:avLst/>
          </a:prstGeom>
        </p:spPr>
      </p:pic>
      <p:pic>
        <p:nvPicPr>
          <p:cNvPr id="18" name="Image 1" descr="/Users/gimsiu/Downloads/suni c 14조/docs/발표_그림_5샷연속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87168"/>
            <a:ext cx="5038344" cy="241401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583680" y="2231136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진입 판정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583680" y="4974336"/>
            <a:ext cx="5038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565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 값이 경계 밖  &amp;&amp;  5샷 연속   →   그 다섯째 샷에 1행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6583680" y="5285232"/>
            <a:ext cx="5038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진입 1,461건 — 오래 지속돼도 사건 하나당 1행이다.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566928" y="6053328"/>
            <a:ext cx="11057839" cy="0"/>
          </a:xfrm>
          <a:prstGeom prst="line">
            <a:avLst/>
          </a:prstGeom>
          <a:noFill/>
          <a:ln w="9525">
            <a:solidFill>
              <a:srgbClr val="DCE3E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66928" y="6163056"/>
            <a:ext cx="110578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결정트리는 순수 노이즈에도 경계를 만든다. 그래서 도메인 방향과 반대면 버린다.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9456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배경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97280" y="219456"/>
            <a:ext cx="164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280160" y="219456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810512" y="219456"/>
            <a:ext cx="164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993392" y="219456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판정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23744" y="219456"/>
            <a:ext cx="164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06624" y="219456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36976" y="219456"/>
            <a:ext cx="164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19856" y="219456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98687" y="21945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spc="160" kern="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05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530352"/>
            <a:ext cx="11057839" cy="0"/>
          </a:xfrm>
          <a:prstGeom prst="line">
            <a:avLst/>
          </a:prstGeom>
          <a:noFill/>
          <a:ln w="9525">
            <a:solidFill>
              <a:srgbClr val="DC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658368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둘 다 거는가 — 서로 대체가 아니다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66928" y="1170432"/>
            <a:ext cx="110578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❖ 예전엔 유형이 어느 판정을 받을지까지 정했다. 그러면 서로 잡는 게 다른데 한쪽만 본다.</a:t>
            </a:r>
            <a:endParaRPr lang="en-US" sz="1300" dirty="0"/>
          </a:p>
        </p:txBody>
      </p:sp>
      <p:pic>
        <p:nvPicPr>
          <p:cNvPr id="15" name="Image 0" descr="/Users/gimsiu/Downloads/suni c 14조/docs/발표_그림_판정분담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00784"/>
            <a:ext cx="6949440" cy="2980944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7818120" y="1737360"/>
            <a:ext cx="3806647" cy="1097280"/>
          </a:xfrm>
          <a:prstGeom prst="roundRect">
            <a:avLst>
              <a:gd name="adj" fmla="val 5000"/>
            </a:avLst>
          </a:prstGeom>
          <a:solidFill>
            <a:srgbClr val="F2F6F9"/>
          </a:solidFill>
          <a:ln/>
        </p:spPr>
      </p:sp>
      <p:sp>
        <p:nvSpPr>
          <p:cNvPr id="17" name="Text 14"/>
          <p:cNvSpPr/>
          <p:nvPr/>
        </p:nvSpPr>
        <p:spPr>
          <a:xfrm>
            <a:off x="7982712" y="1828800"/>
            <a:ext cx="347746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CUSUM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982712" y="2139696"/>
            <a:ext cx="347746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평균 수준이 밀렸나 (누적)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982712" y="2432304"/>
            <a:ext cx="347746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서서히 진행되는 열화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818120" y="2980944"/>
            <a:ext cx="3806647" cy="1097280"/>
          </a:xfrm>
          <a:prstGeom prst="roundRect">
            <a:avLst>
              <a:gd name="adj" fmla="val 5000"/>
            </a:avLst>
          </a:prstGeom>
          <a:solidFill>
            <a:srgbClr val="E7F4EE"/>
          </a:solidFill>
          <a:ln/>
        </p:spPr>
      </p:sp>
      <p:sp>
        <p:nvSpPr>
          <p:cNvPr id="21" name="Text 18"/>
          <p:cNvSpPr/>
          <p:nvPr/>
        </p:nvSpPr>
        <p:spPr>
          <a:xfrm>
            <a:off x="7982712" y="3072384"/>
            <a:ext cx="347746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경계 진입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982712" y="3383280"/>
            <a:ext cx="347746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위험구간에 샷이 들어갔나 (꼬리)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982712" y="3675888"/>
            <a:ext cx="347746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평균은 멀쩡한데 개별 샷이 튐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7818120" y="4315968"/>
            <a:ext cx="3806647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유형이 정하는 건 두 가지뿐이다 —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기준값을 어디서 가져오나, CUSUM을 편측으로 볼까 양측으로 볼까.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66928" y="4882896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어느 한쪽만 걸었으면 127개 또는 195개를 통째로 놓친다.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66928" y="5266944"/>
            <a:ext cx="11057839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재현: analysis_outputs/trend_analysis_results.csv를 (장비, 컬럼, 제품, 레시피)로 묶어 첫 진입일과 첫 CUSUM일을 비교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'접근' 판정(넘기 전에 미리 잡는 경로)은 26.08.17에 제거했다 — 잡은 고장 0건, 오탐 2건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66928" y="6053328"/>
            <a:ext cx="11057839" cy="0"/>
          </a:xfrm>
          <a:prstGeom prst="line">
            <a:avLst/>
          </a:prstGeom>
          <a:noFill/>
          <a:ln w="9525">
            <a:solidFill>
              <a:srgbClr val="DCE3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163056"/>
            <a:ext cx="110578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하나를 고르는 게 아니라 둘 다 건다.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9456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배경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97280" y="219456"/>
            <a:ext cx="164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280160" y="219456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810512" y="219456"/>
            <a:ext cx="164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993392" y="219456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판정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23744" y="219456"/>
            <a:ext cx="164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06624" y="219456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36976" y="219456"/>
            <a:ext cx="164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19856" y="219456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98687" y="21945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spc="160" kern="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02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530352"/>
            <a:ext cx="11057839" cy="0"/>
          </a:xfrm>
          <a:prstGeom prst="line">
            <a:avLst/>
          </a:prstGeom>
          <a:noFill/>
          <a:ln w="9525">
            <a:solidFill>
              <a:srgbClr val="DC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658368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경보 행 51,037에서 경보 44건까지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66928" y="1170432"/>
            <a:ext cx="110578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❖ early_warning은 상태다. 이상이 지속되면 매 샷 True가 되므로 행을 그대로 세면 안 된다.</a:t>
            </a:r>
            <a:endParaRPr lang="en-US" sz="1300" dirty="0"/>
          </a:p>
        </p:txBody>
      </p:sp>
      <p:pic>
        <p:nvPicPr>
          <p:cNvPr id="15" name="Image 0" descr="/Users/gimsiu/Downloads/suni c 14조/docs/발표_그림_경보건수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91056"/>
            <a:ext cx="5038344" cy="444398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870448" y="1627632"/>
            <a:ext cx="575431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44건이 다 같은 경보가 아니다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870448" y="2011680"/>
            <a:ext cx="5754319" cy="1188720"/>
          </a:xfrm>
          <a:prstGeom prst="roundRect">
            <a:avLst>
              <a:gd name="adj" fmla="val 6154"/>
            </a:avLst>
          </a:prstGeom>
          <a:solidFill>
            <a:srgbClr val="F2F6F9"/>
          </a:solidFill>
          <a:ln/>
        </p:spPr>
      </p:sp>
      <p:sp>
        <p:nvSpPr>
          <p:cNvPr id="18" name="Text 15"/>
          <p:cNvSpPr/>
          <p:nvPr/>
        </p:nvSpPr>
        <p:spPr>
          <a:xfrm>
            <a:off x="6071616" y="2139696"/>
            <a:ext cx="5351983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성숙도 = min(1,  지속일 / 14)     증거가 쌓였나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긴급도 = min(1,  14 / 도달예상일)  곧 넘나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세기   = max(성숙도, 긴급도)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870448" y="3310128"/>
            <a:ext cx="2785720" cy="1243584"/>
          </a:xfrm>
          <a:prstGeom prst="roundRect">
            <a:avLst>
              <a:gd name="adj" fmla="val 5882"/>
            </a:avLst>
          </a:prstGeom>
          <a:solidFill>
            <a:srgbClr val="E7F4EE"/>
          </a:solidFill>
          <a:ln/>
        </p:spPr>
      </p:sp>
      <p:sp>
        <p:nvSpPr>
          <p:cNvPr id="20" name="Text 17"/>
          <p:cNvSpPr/>
          <p:nvPr/>
        </p:nvSpPr>
        <p:spPr>
          <a:xfrm>
            <a:off x="5870448" y="3419856"/>
            <a:ext cx="2785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6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870448" y="3749040"/>
            <a:ext cx="2785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6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9건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870448" y="4041648"/>
            <a:ext cx="2785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지속 25.4 ~ 59.5일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870448" y="4261104"/>
            <a:ext cx="2785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점수를 최대폭까지 깎음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8839048" y="3310128"/>
            <a:ext cx="2785720" cy="1243584"/>
          </a:xfrm>
          <a:prstGeom prst="roundRect">
            <a:avLst>
              <a:gd name="adj" fmla="val 5882"/>
            </a:avLst>
          </a:prstGeom>
          <a:solidFill>
            <a:srgbClr val="F2F6F9"/>
          </a:solidFill>
          <a:ln/>
        </p:spPr>
      </p:sp>
      <p:sp>
        <p:nvSpPr>
          <p:cNvPr id="25" name="Text 22"/>
          <p:cNvSpPr/>
          <p:nvPr/>
        </p:nvSpPr>
        <p:spPr>
          <a:xfrm>
            <a:off x="8839048" y="3419856"/>
            <a:ext cx="2785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839048" y="3749040"/>
            <a:ext cx="2785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35건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8839048" y="4041648"/>
            <a:ext cx="2785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지속 0.0 ~ 5.2일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8839048" y="4261104"/>
            <a:ext cx="2785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흐리게 표시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870448" y="4663440"/>
            <a:ext cx="5754319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3970">
            <a:solidFill>
              <a:srgbClr val="15654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053328" y="4773168"/>
            <a:ext cx="538855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6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5.2일과 25.4일 사이가 비어 있다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5870448" y="5321808"/>
            <a:ext cx="575431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14일 선이 경계 사례를 하나도 만들지 않는다 — 12일이나 20일로 바꿔도 같은 분류가 나온다.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66928" y="6053328"/>
            <a:ext cx="11057839" cy="0"/>
          </a:xfrm>
          <a:prstGeom prst="line">
            <a:avLst/>
          </a:prstGeom>
          <a:noFill/>
          <a:ln w="9525">
            <a:solidFill>
              <a:srgbClr val="DCE3E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6928" y="6163056"/>
            <a:ext cx="110578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boolean 하나로 칠하면 '39.6일째'와 '0.2일째'가 같은 배지를 받는다.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66928" y="6528816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이 구분이 없던 때는 활성 경보 76건 중 63건이 세기 0.5 미만이었고 그 63건의 HI가 전부 96 이상이었다 — 'HI 99인데 빨간 경보'가 화면의 기본 상태였다.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2026-08-16T18:07:48Z</dcterms:created>
  <dcterms:modified xsi:type="dcterms:W3CDTF">2026-08-16T18:07:48Z</dcterms:modified>
</cp:coreProperties>
</file>