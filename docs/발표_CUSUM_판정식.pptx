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교과서 관례값은 K=0.5 / H=4.0입니다. 우리는 0.7 / 4.5를 씁니다. 왜 바꿨고, 그 근거가 무엇인지가 이 장의 내용입니다.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경보 시점의 값 9.8716이 관리하한 9.7290보다 위라는 것. 관리도가 무력한 이유가 이 한 줄에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'왜 ARL 안 봤냐'는 질문이 나옵니다. 다음 장이 그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표는 발표에서 먼저 안 보여줘도 됩니다. 'H는 왜 4.5냐'가 나오면 여는 자리입니다. 근거가 K보다 약하다는 걸 먼저 말하는 게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이 장의 요점입니다. 교과서를 안 따른 게 아니라, 교과서가 가정한 조건이 이 데이터에서 깨져서 다른 기준으로 골랐다는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suniC · 14조 · 추세분석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 판정식을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세웠는가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0.7σ · H = 4.5σ — 교과서값을 안 쓴 이유와 그 근거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8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수치는 파이프라인을 해당 설정으로 다시 돌려 잰 실측값입니다.   ·   2026. 08. 16.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3σ 관리도로는 우리 열화가 안 잡힌다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: 순간을 보는 판정과 누적을 보는 판정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고장이 진행 중인데 값은 아직 관리한계 안에 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192024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1-1. 두 판정이 같은 고장을 언제 잡는가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212848"/>
          <a:ext cx="7772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11680"/>
                <a:gridCol w="1371600"/>
                <a:gridCol w="137160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보나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잡은 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그날 일평균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관리하한 대비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CUSUM 누적합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작은 편차가 쌓였나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2026-02-23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9.8716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안쪽 (아직 정상)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3σ 관리도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 점이 선을 넘었나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2026-03-04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33101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DP04 / CLN_Flow / PKG_A / RCP_1 실측.  전 그룹 기준으로는 CUSUM 02-19 vs 값 이탈 03-01 = 10일.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원본: docs/발표_그림1_CUSUM_vs_관리도.xlsx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8549640" y="2212848"/>
            <a:ext cx="31089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32520" y="23042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9일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8732520" y="28346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먼저 잡은 시간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732520" y="30540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경보 시점의 값은 관리하한 안쪽이라 관리도는 아무 말도 못 한다.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02920" y="39776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1-3. 왜 고정 선으로는 안 되나</a:t>
            </a:r>
            <a:endParaRPr lang="en-US" sz="115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70248"/>
          <a:ext cx="777240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926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우리 열화 크기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 실측 이동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0.70σ (스펙폭의 4.2%)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방식 구조적 지연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최소 14행 ≈ 3일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방식 실측 첫 경고까지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6~7일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8"/>
          <p:cNvSpPr/>
          <p:nvPr/>
        </p:nvSpPr>
        <p:spPr>
          <a:xfrm>
            <a:off x="854964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1-2. 이 그림의 기준값</a:t>
            </a:r>
            <a:endParaRPr lang="en-US" sz="115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49640" y="4270248"/>
          <a:ext cx="31089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3258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정상값 (target)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표준편차 σ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관리상한 (+3σ)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관리하한 (−3σ)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경보선 (−H)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9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판정을 “한 점이 선을 넘었나”에서 “작은 편차가 한 방향으로 쌓였나”로 바꾼다.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판정식과 세 개의 입력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Design(1) : 무엇을 누적하고 언제 터뜨리는가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식은 한 줄이지만, 그 안의 세 값이 전부 따로 정해져야 한다.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1920240"/>
            <a:ext cx="11155680" cy="137160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029968"/>
            <a:ext cx="10515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z(i)  = ( x(i) − target ) / σ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C⁺(i) = max( 0, C⁺(i−1) + z(i) − K )        C⁻(i) = min( 0, C⁻(i−1) + z(i) + K )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237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경보  ⟺  C⁺(i) &gt; H   또는   C⁻(i) &lt; −H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34930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2-2. 세 개의 입력 — 무엇을 정하나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8561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3017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입력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무엇을 정하나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유형이 정함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어디서 재나 — 기준점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버릴 편차 — 이보다 작으면 누적하지 않는다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경보선 — 버리고 남은 게 이만큼 쌓이면 확정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6172200" y="34930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2-4. 무엇을 바꿨나</a:t>
            </a:r>
            <a:endParaRPr lang="en-US" sz="11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785616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48840"/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기존 (rolling mean)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현재 (CUSUM)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창 10행 평균 + 5행 연속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매 샷 누적, 창 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구조적 지연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최소 14행 ≈ 3일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CLN_Flow 첫 경고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6~7일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유형은 target과 편측/양측만 정하고, 판정은 34개 전 컬럼에 똑같이 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유형이 정하는 것은 두 가지뿐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Design(2) : baseline 출처와 편측 / 양측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예전엔 유형이 어느 판정을 받을지까지 정했다 — 배정이 틀리면 경보가 죽었다.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2-3. 유형별 baseline과 CUSUM 방향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206240"/>
                <a:gridCol w="32918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유형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(target)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비고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안정구간 평균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편측 (악화 방향만)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 중앙값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양측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층별 OK 중앙값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편측 (risky_direction)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 병행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실제 정상값 (reference_OK_mean)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양측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이론 상수 아님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4434840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45262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34개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685800" y="5056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걸리는 컬럼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" y="52760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유형과 무관하게 전 컬럼에 건다.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97680" y="4434840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80560" y="45262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0.000%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4480560" y="5056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감시 전용 10개의 경보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480560" y="52760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인프라·환경 컬럼은 경보가 0건 — 관리한계가 제대로 잡혔다는 뜻.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092440" y="4434840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75320" y="452628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9일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8275320" y="5056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경계 판정보다 빠른 폭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75320" y="527608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DP04 CLN_Flow 02-19 vs 02-28.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 배정이 틀려도 경보가 죽지 않는다 — 유형은 기준점만 정한다.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 0.5 / 4.0은 왜 못 쓰는가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Experiment(1) : 정상 장비가 고장 장비보다 많이 뜬다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멘토 확정 — DP01은 주입 시나리오가 없다. 거기 뜨는 건 전부 오탐이다.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3-1. 14일 이상 지속된 경보 개수</a:t>
            </a:r>
            <a:endParaRPr 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08760"/>
                <a:gridCol w="1051560"/>
                <a:gridCol w="1051560"/>
                <a:gridCol w="1051560"/>
                <a:gridCol w="1463040"/>
                <a:gridCol w="1828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(정상)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최장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0.5 / H 4.0 (교과서)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50.6일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158,640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0.7 / H 4.5 (채택)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61,058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3886200"/>
            <a:ext cx="11155680" cy="1234440"/>
          </a:xfrm>
          <a:prstGeom prst="rect">
            <a:avLst/>
          </a:prstGeom>
          <a:solidFill>
            <a:srgbClr val="FBECEA"/>
          </a:solidFill>
          <a:ln w="12700">
            <a:solidFill>
              <a:srgbClr val="FBEC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404164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교과서값에서는 멀쩡한 DP01(44개)이 레이저가 실제로 노후된 DP02(39개)보다 많이 뜬다.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구분이 안 되는 정도가 아니라 순서가 뒤집힌다. 0.7 / 4.5에서는 DP01만 정확히 0이 된다.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재현: python3 docs/check_cusum_params.py   ·   이전 26.08.08판 수치(DP01 8개 / 87.6일)는 CUSUM이 34개 전 컬럼으로 확대되고 방향 필터가 들어가기 전 값이라 폐기했다.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ARL₀를 목표로 두는 대신, 정답이 있는 장비(DP01)로 K·H를 채점했다.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ARL은 관리도 한 개의 수다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Experiment(1) : 계산은 했지만 설계 기준으로는 못 쓴 이유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우리는 장비 1대에 CUSUM 1,836개를 동시에 돌린다.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3-2. 스트림이 하나가 아닐 때 ARL₀가 뜻하는 것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2834640"/>
                <a:gridCol w="42062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스트림 1개 기준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1,836개 켜면 (정상 장비 1대 · 89일)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0.5 / H 4.0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169샷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32.5일마다 1건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5,051건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0.7 / H 4.5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1,374샷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264.7일마다 1건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37490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장비당 54개 Product×Recipe 그룹 × 34개 컬럼 = 1,836개.  그룹당 5.19샷/일.  몬테카를로 2만 회 — 교과서값에서 169가 나와 문헌값 ~168과 맞는다.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02920" y="4224528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431596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608 vs 665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685800" y="48463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 예측 vs DP01 실측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50657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오차 9%. 모델이 틀린 게 아니라 적용 방식이 틀렸다.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297680" y="4224528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80560" y="431596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0.351σ</a:t>
            </a:r>
            <a:endParaRPr lang="en-US" sz="3200" dirty="0"/>
          </a:p>
        </p:txBody>
      </p:sp>
      <p:sp>
        <p:nvSpPr>
          <p:cNvPr id="22" name="Text 19"/>
          <p:cNvSpPr/>
          <p:nvPr/>
        </p:nvSpPr>
        <p:spPr>
          <a:xfrm>
            <a:off x="4480560" y="48463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DP01 최대 상시 오프셋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480560" y="50657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baseline이 OPCOND 공통이라 남는다. ARL₀가 아니라 ARL₁로 들어온다.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092440" y="4224528"/>
            <a:ext cx="356616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75320" y="431596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≈ 0.29</a:t>
            </a:r>
            <a:endParaRPr lang="en-US" sz="3200" dirty="0"/>
          </a:p>
        </p:txBody>
      </p:sp>
      <p:sp>
        <p:nvSpPr>
          <p:cNvPr id="26" name="Text 23"/>
          <p:cNvSpPr/>
          <p:nvPr/>
        </p:nvSpPr>
        <p:spPr>
          <a:xfrm>
            <a:off x="8275320" y="484632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정석(k = δ/2)이 시키는 값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275320" y="506577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0.57σ 열화 기준. 교과서 0.5보다 더 민감하게 가라고 나온다.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ARL이 대리하려던 양(오경보 횟수)을 가정하지 않고 직접 셌다.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오프셋이 있으면 더 무너진다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Experiment(1) : ARL₀ 가정이 깨지는 지점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ARL₀는 “정상일 때 평균 = target”을 가정하는데, 우리 target은 장비 것이 아니다.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3-3. 오프셋 크기별 ARL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5943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0.5 / H 4.0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0.7 / H 4.5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  진짜 정상 (ARL₀)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169샷 = 32.5일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1,374샷 = 264.7일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0.10σ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141샷 = 27.1일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1,021샷 = 196.8일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0.20σ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93샷 = 17.9일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544샷 = 104.8일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0.35σ  DP01 최대 오프셋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47샷 = 9.1일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191샷 = 36.8일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0.57σ  잡아야 할 열화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 = 1.0σ  교과서 목표 이동폭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14샷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720840" y="205740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3-4. DP01(정상 장비)의 오프셋 실측</a:t>
            </a:r>
            <a:endParaRPr lang="en-US" sz="11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377440"/>
          <a:ext cx="49377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검사한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1,188개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|오프셋| 중앙값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0.042σ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|오프셋| 최대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0.351σ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0.2σ 이상인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106개 (8.9%)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0.3σ 이상인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17개 (1.4%)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잔차 lag-1 자기상관 중앙값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/>
          <p:nvPr/>
        </p:nvSpPr>
        <p:spPr>
          <a:xfrm>
            <a:off x="502920" y="45720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교과서값에서는 0.35σ 오프셋 하나가 ARL을 32.5일 → 9.1일로 무너뜨린다.  표에서 h를 읽어오는 순간 이 항이 사라진다.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다만 iid 가정 자체는 안 깨진다 — 자기상관 −0.003, |r|&gt;0.1인 스트림 2.8%. 문제는 흔들림이 아니라 중심이다.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문헌 ARL 표에는 “경보기를 몇 개 켤 거냐”와 “기준이 내 것이냐”가 없다.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K를 훑어 쓸 수 있는 구간을 찾는다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Experiment(2) : 하한은 오탐이, 상한은 탐지 지연이 정한다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K를 0.4에서 1.5까지 바꿔 파이프라인을 16번 다시 돌렸다.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4-1. K 스윕 (H = 4.5 고정) — 괄호는 실제 고장 시작일 대비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22576"/>
          <a:ext cx="11155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737360"/>
                <a:gridCol w="2743200"/>
                <a:gridCol w="2194560"/>
                <a:gridCol w="201168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14일↑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 CLN_Flow (02-17)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DP03 Head_Temp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02-12 (−5)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01-25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고장 전 오탐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02-12 (−5)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01-30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고장 전 오탐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하한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채택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02-22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02-24 (+22)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03-11 (+22)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3주 지연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4681728"/>
            <a:ext cx="5440680" cy="126187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하한 0.65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85800" y="530352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오탐이 정한다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" y="5522976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 이하에서는 CLN_Flow가 고장(2/17)보다 5일 먼저 운다.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17920" y="4681728"/>
            <a:ext cx="5440680" cy="1261872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상한 0.80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400800" y="5303520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지연이 정한다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5522976"/>
            <a:ext cx="5074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넘기면 장비 두 대에서 탐지가 22일씩 늦어지고, 1.10에서는 DP02 지속경보가 아예 사라진다.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쓸 수 있는 구간은 [0.65, 0.80]이고, 채택한 0.70은 그 한가운데다.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H는 어디서 나왔나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Experiment(2) : K와 별도로 잰다 — H는 훨씬 둔하다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 고정, H를 3.5 ~ 6.0까지 0.1 간격으로 훑었다.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4-2. H 스윕 (K = 0.7 고정)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22576"/>
          <a:ext cx="111556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280160"/>
                <a:gridCol w="1143000"/>
                <a:gridCol w="1417320"/>
                <a:gridCol w="1554480"/>
                <a:gridCol w="1417320"/>
                <a:gridCol w="1280160"/>
                <a:gridCol w="23774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14일↑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최장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CLN_Flow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Laser_Power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Head_Temp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02-12 (−5)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탈락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통과 (여유 없음)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오탐 개선 바닥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채택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02-04 (−2)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늦어짐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02-18 (+7)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늦어짐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(+2)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02-19 (+8)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늦어짐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5074920"/>
            <a:ext cx="11155680" cy="86868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517550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 [4.3, 4.5].  4.3에서 오탐 개선이 바닥치고 6.0까지 더 안 줄어든다. 4.6부터 탐지가 늦어진다.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4.5는 탐지 비용이 0인 마지막 값이라 골랐다 — K만큼 강한 근거는 아니다. 4.3·4.4와는 우열을 못 가린다.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H는 오탐 개선이 멈추는 지점과 탐지가 늦어지는 지점 사이에서 고른다.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하한을 CLN_Flow로만 정한 이유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Experiment(2) : “고장 전에 울렸으면 오탐”이 성립하는 컬럼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판정은 고장 시작일이 딱 떨어질 때만 할 수 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4-3. 고장 시작일 이전 구간이 평평한가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1737360"/>
                <a:gridCol w="137160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장비 / 컬럼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시작일 이전 기울기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누적 이동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판정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−0.1275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−4.59σ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3e-10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기울어 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Power_Efficiency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−0.0968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−3.29σ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9e-08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기울어 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DP03 Head_Temp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+0.0384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+1.57σ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이미 기울어 있음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 CLN_Flow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+0.0018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+0.08σ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평평함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(대조군) DP02 Feed_Speed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−0.0098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−0.35σ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평평함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(대조군) DP04 Feed_Speed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+0.0010 σ/일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+0.05σ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평평함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4892040"/>
            <a:ext cx="11155680" cy="1005840"/>
          </a:xfrm>
          <a:prstGeom prst="rect">
            <a:avLst/>
          </a:prstGeom>
          <a:solidFill>
            <a:srgbClr val="EAF5EF"/>
          </a:solidFill>
          <a:ln w="12700">
            <a:solidFill>
              <a:srgbClr val="EAF5E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4992624"/>
            <a:ext cx="10424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레이저 노후·냉각 고장은 “시작일” 전부터 이미 기울어 있다 — 우리가 잡은 시작일은 실제 시작이 아니라 일평균이 3σ를 넘은 날일 뿐이다.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CLN_Flow만 무관한 대조군과 구분이 안 될 만큼 평평하다. 다른 컬럼에서 먼저 울린 건 오탐이 아니라 조기탐지다.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컬럼 하나만 보여준 게 아니라, 그 판정이 가능한 컬럼이 하나뿐이었다.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장비 한 대에 맞춘 값 아닌가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Experiment(3) : 과적합 검사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2개를 장비 4대에 맞췄다. 과적합이라면 기준을 쪼갤 때 무너져야 한다.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5-1. 쪼개도 경계가 같은 자리에 서는가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무엇으로 쟀나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경계 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전체 (실제 선택에 쓴 것)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컬럼 홀수번째만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컬럼 짝수번째만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기간 전반부만 (~2/16)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기간 후반부만 (2/16~)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6172200" y="2057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5-2. 경계는 감시 규모에 딸린다</a:t>
            </a:r>
            <a:endParaRPr lang="en-US" sz="11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37744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포함 제품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동시 스트림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경계 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6개 (현재)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1,836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02920" y="4526280"/>
            <a:ext cx="544068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85800" y="4617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구간이다</a:t>
            </a:r>
            <a:endParaRPr lang="en-US" sz="3200" dirty="0"/>
          </a:p>
        </p:txBody>
      </p:sp>
      <p:sp>
        <p:nvSpPr>
          <p:cNvPr id="19" name="Text 15"/>
          <p:cNvSpPr/>
          <p:nvPr/>
        </p:nvSpPr>
        <p:spPr>
          <a:xfrm>
            <a:off x="685800" y="514807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점 해답이 아니다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" y="536752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0.65~0.80이 전부 같은 답을 낸다. 손잡이를 절반 넘게 돌려도 결론이 안 바뀐다.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0" y="4526280"/>
            <a:ext cx="5440680" cy="1417320"/>
          </a:xfrm>
          <a:prstGeom prst="rect">
            <a:avLst/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00800" y="4617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+0.20 / 6배</a:t>
            </a:r>
            <a:endParaRPr lang="en-US" sz="3200" dirty="0"/>
          </a:p>
        </p:txBody>
      </p:sp>
      <p:sp>
        <p:nvSpPr>
          <p:cNvPr id="23" name="Text 19"/>
          <p:cNvSpPr/>
          <p:nvPr/>
        </p:nvSpPr>
        <p:spPr>
          <a:xfrm>
            <a:off x="6400800" y="514807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감시 규모가 늘면 경계도 오른다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6400800" y="536752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여기서 6배 더 확장하면 0.7이 구간 밖으로 나간다.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과적합의 전형(한 점 해답 · 쪼개면 붕괴 · 타 지표 불일치)은 없다. 대신 규모 종속성이 남는다.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남은 한계 — 먼저 말한다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Experiment(3) : 이 데이터로 못 잰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질문받기 전에 우리가 먼저 꺼내는 편이 낫다.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5740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5-3. 네 가지 한계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규모 종속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 = 0.7 / H = 4.5는 스트림 1,836개 기준. 제품·레시피·장비가 크게 늘면 재측정한다.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상한 근거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DP02·DP03 두 대에만 기댄다. 하한은 DP01의 스트림 1,188개가 받쳐 훨씬 두껍다.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정상의 다양성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 장비가 DP01 한 대뿐이라 “정상이 얼마나 다양할 수 있는가”는 이 데이터로 못 잰다.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23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H의 근거 강도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구간 [4.3, 4.5] 안에서 4.3·4.4와 우열을 못 가린다. K만큼 강하지 않다.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EA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52578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한계들은 데이터로 못 메꾼다. 확장 시 재측정 조건으로 문서에 남겼다 — docs/판정근거_정리.md 2-3절.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“모른다”를 적어두는 것도 근거다 — 다음 사람이 어디를 다시 재야 하는지 안다.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3385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91109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05740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88336" y="274320"/>
            <a:ext cx="146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834640" y="27432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60350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탐지는 CUSUM, 심각도는 3σ 관리한계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152144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: 역할을 나눈 이유와 최종 성능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0" y="5029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E8ED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148132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경보선을 점수 척도로도 쓰려 했다가 실패했다.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2011680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6-1. 최종 성능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22576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6766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값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탐지 속도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10일 먼저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DP04 CLN_Flow — 실제 하강 02-17, CUSUM 02-19. 값이 관리하한을 깬 건 03-01.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565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정상 장비 오경보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14일↑ 지속경보 0건.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오경보 상태 비율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중앙값 0.479%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DP01 컬럼 32개 기준 0.125~1.290%. 1%를 넘는 건 CLN_Pressure 하나.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경보는 상태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61,058행 → 2,652건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지속되는 동안 쌓인 경보행을 연속 구간 하나로 묶는다.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4407408"/>
            <a:ext cx="11155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 6-2. 기각한 안 — 경보선을 점수 척도로도 쓰기</a:t>
            </a:r>
            <a:endParaRPr lang="en-US" sz="11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700016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120640"/>
                <a:gridCol w="374904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기각한 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채택한 안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B5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점수 100% 지점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CUSUM 경보선 (0.7σ)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관리한계 (3σ)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경보가 확정된 컬럼이 무엇이든 점수가 바닥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경보 세기와 심각도가 따로 움직인다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DP02 Laser_Power가 정상값에서 0.72σ인데 9.7점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02920" y="6062472"/>
            <a:ext cx="11155680" cy="18288"/>
          </a:xfrm>
          <a:prstGeom prst="rect">
            <a:avLst/>
          </a:prstGeom>
          <a:solidFill>
            <a:srgbClr val="DCE3EA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02920" y="61630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</a:t>
            </a:r>
            <a:pPr algn="l" indent="0" marL="0">
              <a:buNone/>
            </a:pPr>
            <a:r>
              <a:rPr lang="en-US" sz="13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 문턱은 심각도 자가 될 수 없다 — 잡는 선과 재는 자를 분리했다.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B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줄로 정리하면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66160" y="21488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0.7σ   ·   H = 4.5σ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7157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쓸 수 있는 구간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27157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[0.65, 0.80]   ·   H [4.3, 4.5]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28269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6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3282696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스트림 1,836개 규모. 확장하면 재측정한다.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2960" y="4114800"/>
            <a:ext cx="10515600" cy="1234440"/>
          </a:xfrm>
          <a:prstGeom prst="rect">
            <a:avLst/>
          </a:prstGeom>
          <a:solidFill>
            <a:srgbClr val="2C4E6E"/>
          </a:solidFill>
          <a:ln w="12700">
            <a:solidFill>
              <a:srgbClr val="2C4E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261104"/>
            <a:ext cx="9784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근거는 “오탐률이 낮아서”가 아니라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“정답이 있는 데이터에서 정상과 고장을 가르기 때문”이다.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재현:  python3 docs/check_cusum_params.py      ·      근거 문서:  docs/판정근거_정리.md 2-3절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CUSUM 판정식을 어떻게 세웠는가</dc:title>
  <dc:subject>PptxGenJS Presentation</dc:subject>
  <dc:creator>SK suniC 14조</dc:creator>
  <cp:lastModifiedBy>SK suniC 14조</cp:lastModifiedBy>
  <cp:revision>1</cp:revision>
  <dcterms:created xsi:type="dcterms:W3CDTF">2026-08-16T07:17:33Z</dcterms:created>
  <dcterms:modified xsi:type="dcterms:W3CDTF">2026-08-16T07:17:33Z</dcterms:modified>
</cp:coreProperties>
</file>